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imes New Roman Bold" charset="1" panose="02020803070505020304"/>
      <p:regular r:id="rId22"/>
    </p:embeddedFont>
    <p:embeddedFont>
      <p:font typeface="Times New Roman Bold Italics" charset="1" panose="02020703060505090304"/>
      <p:regular r:id="rId23"/>
    </p:embeddedFont>
    <p:embeddedFont>
      <p:font typeface="Times New Roman" charset="1" panose="020206030504050203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https://sinhvien.dthu.edu.vn/sinh-vien/page-lhp.html?g=SdB8ByfkFSvbnrLtjv2OupOqEzRgF8jRHSXGamjNpMntSvfJOsS7dAgSzVQyAUydFq4zlK_kb8iszI2IbiEil1y_FlMXlVCpwcbxQjMBkeTisXWYMu4mnMz0AkVbWlDd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28940" y="1756484"/>
            <a:ext cx="7630120" cy="758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37F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BÁO CÁO </a:t>
            </a:r>
            <a:r>
              <a:rPr lang="en-US" b="true" sz="3999">
                <a:solidFill>
                  <a:srgbClr val="137FC4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4" tooltip="https://sinhvien.dthu.edu.vn/sinh-vien/page-lhp.html?g=SdB8ByfkFSvbnrLtjv2OupOqEzRgF8jRHSXGamjNpMntSvfJOsS7dAgSzVQyAUydFq4zlK_kb8iszI2IbiEil1y_FlMXlVCpwcbxQjMBkeTisXWYMu4mnMz0AkVbWlDd"/>
              </a:rPr>
              <a:t>LẬP TRÌNH .NET (C#)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ĐỀ TÀI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37F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Ứng dụng trợ lý trò chuyện AI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37F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(AI Chat Assistant)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137FC4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Đồng Tháp, ngày 9 tháng 8 năm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76998"/>
            <a:ext cx="6540773" cy="119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Thành viên nhóm: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376874" y="2891399"/>
          <a:ext cx="11534251" cy="4504202"/>
        </p:xfrm>
        <a:graphic>
          <a:graphicData uri="http://schemas.openxmlformats.org/drawingml/2006/table">
            <a:tbl>
              <a:tblPr/>
              <a:tblGrid>
                <a:gridCol w="5767126"/>
                <a:gridCol w="5767126"/>
              </a:tblGrid>
              <a:tr h="1183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HỌ VÀ TÊN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NHIỆM VỤ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02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NGUYỄN TẤN LỘC </a:t>
                      </a:r>
                      <a:endParaRPr lang="en-US" sz="1100"/>
                    </a:p>
                    <a:p>
                      <a:pPr algn="l">
                        <a:lnSpc>
                          <a:spcPts val="4200"/>
                        </a:lnSpc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0024417501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02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PHAN TRẦN GIA HƯNG</a:t>
                      </a:r>
                      <a:endParaRPr lang="en-US" sz="1100"/>
                    </a:p>
                    <a:p>
                      <a:pPr algn="l">
                        <a:lnSpc>
                          <a:spcPts val="4200"/>
                        </a:lnSpc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0024417689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937222" y="2190302"/>
            <a:ext cx="10456168" cy="687394"/>
            <a:chOff x="0" y="0"/>
            <a:chExt cx="13941557" cy="916525"/>
          </a:xfrm>
        </p:grpSpPr>
        <p:grpSp>
          <p:nvGrpSpPr>
            <p:cNvPr name="Group 6" id="6"/>
            <p:cNvGrpSpPr/>
            <p:nvPr/>
          </p:nvGrpSpPr>
          <p:grpSpPr>
            <a:xfrm rot="-5400000">
              <a:off x="101602" y="-101602"/>
              <a:ext cx="916525" cy="1119730"/>
              <a:chOff x="0" y="0"/>
              <a:chExt cx="375637" cy="45892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75637" cy="434251"/>
              </a:xfrm>
              <a:custGeom>
                <a:avLst/>
                <a:gdLst/>
                <a:ahLst/>
                <a:cxnLst/>
                <a:rect r="r" b="b" t="t" l="l"/>
                <a:pathLst>
                  <a:path h="434251" w="375637">
                    <a:moveTo>
                      <a:pt x="375637" y="87990"/>
                    </a:moveTo>
                    <a:lnTo>
                      <a:pt x="375637" y="256630"/>
                    </a:lnTo>
                    <a:cubicBezTo>
                      <a:pt x="375637" y="311271"/>
                      <a:pt x="347148" y="361958"/>
                      <a:pt x="300472" y="390363"/>
                    </a:cubicBezTo>
                    <a:lnTo>
                      <a:pt x="262984" y="413177"/>
                    </a:lnTo>
                    <a:cubicBezTo>
                      <a:pt x="216812" y="441276"/>
                      <a:pt x="158825" y="441276"/>
                      <a:pt x="112653" y="413177"/>
                    </a:cubicBezTo>
                    <a:lnTo>
                      <a:pt x="75165" y="390363"/>
                    </a:lnTo>
                    <a:cubicBezTo>
                      <a:pt x="28489" y="361958"/>
                      <a:pt x="0" y="311271"/>
                      <a:pt x="0" y="256630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375637" cy="392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6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207196" y="397707"/>
              <a:ext cx="121112" cy="121112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5400000">
              <a:off x="7220403" y="-5804629"/>
              <a:ext cx="916525" cy="12525783"/>
              <a:chOff x="0" y="0"/>
              <a:chExt cx="375637" cy="513368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5637" cy="5109012"/>
              </a:xfrm>
              <a:custGeom>
                <a:avLst/>
                <a:gdLst/>
                <a:ahLst/>
                <a:cxnLst/>
                <a:rect r="r" b="b" t="t" l="l"/>
                <a:pathLst>
                  <a:path h="5109012" w="375637">
                    <a:moveTo>
                      <a:pt x="375637" y="87990"/>
                    </a:moveTo>
                    <a:lnTo>
                      <a:pt x="375637" y="4931391"/>
                    </a:lnTo>
                    <a:cubicBezTo>
                      <a:pt x="375637" y="4986031"/>
                      <a:pt x="347148" y="5036718"/>
                      <a:pt x="300472" y="5065124"/>
                    </a:cubicBezTo>
                    <a:lnTo>
                      <a:pt x="262984" y="5087938"/>
                    </a:lnTo>
                    <a:cubicBezTo>
                      <a:pt x="216812" y="5116036"/>
                      <a:pt x="158825" y="5116036"/>
                      <a:pt x="112653" y="5087938"/>
                    </a:cubicBezTo>
                    <a:lnTo>
                      <a:pt x="75165" y="5065124"/>
                    </a:lnTo>
                    <a:cubicBezTo>
                      <a:pt x="28489" y="5036718"/>
                      <a:pt x="0" y="4986031"/>
                      <a:pt x="0" y="4931391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375637" cy="5067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60050" y="67738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861088" y="67738"/>
              <a:ext cx="8509551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Giới thiệu bài toán &amp; Mục tiêu.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37222" y="3204602"/>
            <a:ext cx="10456168" cy="687394"/>
            <a:chOff x="0" y="0"/>
            <a:chExt cx="13941557" cy="916525"/>
          </a:xfrm>
        </p:grpSpPr>
        <p:grpSp>
          <p:nvGrpSpPr>
            <p:cNvPr name="Group 18" id="18"/>
            <p:cNvGrpSpPr/>
            <p:nvPr/>
          </p:nvGrpSpPr>
          <p:grpSpPr>
            <a:xfrm rot="-5400000">
              <a:off x="101602" y="-101602"/>
              <a:ext cx="916525" cy="1119730"/>
              <a:chOff x="0" y="0"/>
              <a:chExt cx="375637" cy="45892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75637" cy="434251"/>
              </a:xfrm>
              <a:custGeom>
                <a:avLst/>
                <a:gdLst/>
                <a:ahLst/>
                <a:cxnLst/>
                <a:rect r="r" b="b" t="t" l="l"/>
                <a:pathLst>
                  <a:path h="434251" w="375637">
                    <a:moveTo>
                      <a:pt x="375637" y="87990"/>
                    </a:moveTo>
                    <a:lnTo>
                      <a:pt x="375637" y="256630"/>
                    </a:lnTo>
                    <a:cubicBezTo>
                      <a:pt x="375637" y="311271"/>
                      <a:pt x="347148" y="361958"/>
                      <a:pt x="300472" y="390363"/>
                    </a:cubicBezTo>
                    <a:lnTo>
                      <a:pt x="262984" y="413177"/>
                    </a:lnTo>
                    <a:cubicBezTo>
                      <a:pt x="216812" y="441276"/>
                      <a:pt x="158825" y="441276"/>
                      <a:pt x="112653" y="413177"/>
                    </a:cubicBezTo>
                    <a:lnTo>
                      <a:pt x="75165" y="390363"/>
                    </a:lnTo>
                    <a:cubicBezTo>
                      <a:pt x="28489" y="361958"/>
                      <a:pt x="0" y="311271"/>
                      <a:pt x="0" y="256630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375637" cy="392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63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-5400000">
              <a:off x="1207196" y="397707"/>
              <a:ext cx="121112" cy="121112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5400000">
              <a:off x="7220403" y="-5804629"/>
              <a:ext cx="916525" cy="12525783"/>
              <a:chOff x="0" y="0"/>
              <a:chExt cx="375637" cy="513368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75637" cy="5109012"/>
              </a:xfrm>
              <a:custGeom>
                <a:avLst/>
                <a:gdLst/>
                <a:ahLst/>
                <a:cxnLst/>
                <a:rect r="r" b="b" t="t" l="l"/>
                <a:pathLst>
                  <a:path h="5109012" w="375637">
                    <a:moveTo>
                      <a:pt x="375637" y="87990"/>
                    </a:moveTo>
                    <a:lnTo>
                      <a:pt x="375637" y="4931391"/>
                    </a:lnTo>
                    <a:cubicBezTo>
                      <a:pt x="375637" y="4986031"/>
                      <a:pt x="347148" y="5036718"/>
                      <a:pt x="300472" y="5065124"/>
                    </a:cubicBezTo>
                    <a:lnTo>
                      <a:pt x="262984" y="5087938"/>
                    </a:lnTo>
                    <a:cubicBezTo>
                      <a:pt x="216812" y="5116036"/>
                      <a:pt x="158825" y="5116036"/>
                      <a:pt x="112653" y="5087938"/>
                    </a:cubicBezTo>
                    <a:lnTo>
                      <a:pt x="75165" y="5065124"/>
                    </a:lnTo>
                    <a:cubicBezTo>
                      <a:pt x="28489" y="5036718"/>
                      <a:pt x="0" y="4986031"/>
                      <a:pt x="0" y="4931391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375637" cy="5067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60050" y="67738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861088" y="67738"/>
              <a:ext cx="1087946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Công nghệ sử dụng &amp; Nguyên lý hoạt động.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37222" y="4215846"/>
            <a:ext cx="10456168" cy="687394"/>
            <a:chOff x="0" y="0"/>
            <a:chExt cx="13941557" cy="916525"/>
          </a:xfrm>
        </p:grpSpPr>
        <p:grpSp>
          <p:nvGrpSpPr>
            <p:cNvPr name="Group 30" id="30"/>
            <p:cNvGrpSpPr/>
            <p:nvPr/>
          </p:nvGrpSpPr>
          <p:grpSpPr>
            <a:xfrm rot="-5400000">
              <a:off x="101602" y="-101602"/>
              <a:ext cx="916525" cy="1119730"/>
              <a:chOff x="0" y="0"/>
              <a:chExt cx="375637" cy="45892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75637" cy="434251"/>
              </a:xfrm>
              <a:custGeom>
                <a:avLst/>
                <a:gdLst/>
                <a:ahLst/>
                <a:cxnLst/>
                <a:rect r="r" b="b" t="t" l="l"/>
                <a:pathLst>
                  <a:path h="434251" w="375637">
                    <a:moveTo>
                      <a:pt x="375637" y="87990"/>
                    </a:moveTo>
                    <a:lnTo>
                      <a:pt x="375637" y="256630"/>
                    </a:lnTo>
                    <a:cubicBezTo>
                      <a:pt x="375637" y="311271"/>
                      <a:pt x="347148" y="361958"/>
                      <a:pt x="300472" y="390363"/>
                    </a:cubicBezTo>
                    <a:lnTo>
                      <a:pt x="262984" y="413177"/>
                    </a:lnTo>
                    <a:cubicBezTo>
                      <a:pt x="216812" y="441276"/>
                      <a:pt x="158825" y="441276"/>
                      <a:pt x="112653" y="413177"/>
                    </a:cubicBezTo>
                    <a:lnTo>
                      <a:pt x="75165" y="390363"/>
                    </a:lnTo>
                    <a:cubicBezTo>
                      <a:pt x="28489" y="361958"/>
                      <a:pt x="0" y="311271"/>
                      <a:pt x="0" y="256630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375637" cy="392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63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-5400000">
              <a:off x="1207196" y="397707"/>
              <a:ext cx="121112" cy="121112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5400000">
              <a:off x="7220403" y="-5804629"/>
              <a:ext cx="916525" cy="12525783"/>
              <a:chOff x="0" y="0"/>
              <a:chExt cx="375637" cy="513368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75637" cy="5109012"/>
              </a:xfrm>
              <a:custGeom>
                <a:avLst/>
                <a:gdLst/>
                <a:ahLst/>
                <a:cxnLst/>
                <a:rect r="r" b="b" t="t" l="l"/>
                <a:pathLst>
                  <a:path h="5109012" w="375637">
                    <a:moveTo>
                      <a:pt x="375637" y="87990"/>
                    </a:moveTo>
                    <a:lnTo>
                      <a:pt x="375637" y="4931391"/>
                    </a:lnTo>
                    <a:cubicBezTo>
                      <a:pt x="375637" y="4986031"/>
                      <a:pt x="347148" y="5036718"/>
                      <a:pt x="300472" y="5065124"/>
                    </a:cubicBezTo>
                    <a:lnTo>
                      <a:pt x="262984" y="5087938"/>
                    </a:lnTo>
                    <a:cubicBezTo>
                      <a:pt x="216812" y="5116036"/>
                      <a:pt x="158825" y="5116036"/>
                      <a:pt x="112653" y="5087938"/>
                    </a:cubicBezTo>
                    <a:lnTo>
                      <a:pt x="75165" y="5065124"/>
                    </a:lnTo>
                    <a:cubicBezTo>
                      <a:pt x="28489" y="5036718"/>
                      <a:pt x="0" y="4986031"/>
                      <a:pt x="0" y="4931391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375637" cy="5067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861088" y="69138"/>
              <a:ext cx="9558184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Cấu trúc chương trình &amp; Module chính.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60050" y="67738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37222" y="5227090"/>
            <a:ext cx="10456168" cy="687394"/>
            <a:chOff x="0" y="0"/>
            <a:chExt cx="13941557" cy="916525"/>
          </a:xfrm>
        </p:grpSpPr>
        <p:grpSp>
          <p:nvGrpSpPr>
            <p:cNvPr name="Group 42" id="42"/>
            <p:cNvGrpSpPr/>
            <p:nvPr/>
          </p:nvGrpSpPr>
          <p:grpSpPr>
            <a:xfrm rot="-5400000">
              <a:off x="101602" y="-101602"/>
              <a:ext cx="916525" cy="1119730"/>
              <a:chOff x="0" y="0"/>
              <a:chExt cx="375637" cy="45892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75637" cy="434251"/>
              </a:xfrm>
              <a:custGeom>
                <a:avLst/>
                <a:gdLst/>
                <a:ahLst/>
                <a:cxnLst/>
                <a:rect r="r" b="b" t="t" l="l"/>
                <a:pathLst>
                  <a:path h="434251" w="375637">
                    <a:moveTo>
                      <a:pt x="375637" y="87990"/>
                    </a:moveTo>
                    <a:lnTo>
                      <a:pt x="375637" y="256630"/>
                    </a:lnTo>
                    <a:cubicBezTo>
                      <a:pt x="375637" y="311271"/>
                      <a:pt x="347148" y="361958"/>
                      <a:pt x="300472" y="390363"/>
                    </a:cubicBezTo>
                    <a:lnTo>
                      <a:pt x="262984" y="413177"/>
                    </a:lnTo>
                    <a:cubicBezTo>
                      <a:pt x="216812" y="441276"/>
                      <a:pt x="158825" y="441276"/>
                      <a:pt x="112653" y="413177"/>
                    </a:cubicBezTo>
                    <a:lnTo>
                      <a:pt x="75165" y="390363"/>
                    </a:lnTo>
                    <a:cubicBezTo>
                      <a:pt x="28489" y="361958"/>
                      <a:pt x="0" y="311271"/>
                      <a:pt x="0" y="256630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375637" cy="392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63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-5400000">
              <a:off x="1207196" y="397707"/>
              <a:ext cx="121112" cy="121112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5400000">
              <a:off x="7220403" y="-5804629"/>
              <a:ext cx="916525" cy="12525783"/>
              <a:chOff x="0" y="0"/>
              <a:chExt cx="375637" cy="5133681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75637" cy="5109012"/>
              </a:xfrm>
              <a:custGeom>
                <a:avLst/>
                <a:gdLst/>
                <a:ahLst/>
                <a:cxnLst/>
                <a:rect r="r" b="b" t="t" l="l"/>
                <a:pathLst>
                  <a:path h="5109012" w="375637">
                    <a:moveTo>
                      <a:pt x="375637" y="87990"/>
                    </a:moveTo>
                    <a:lnTo>
                      <a:pt x="375637" y="4931391"/>
                    </a:lnTo>
                    <a:cubicBezTo>
                      <a:pt x="375637" y="4986031"/>
                      <a:pt x="347148" y="5036718"/>
                      <a:pt x="300472" y="5065124"/>
                    </a:cubicBezTo>
                    <a:lnTo>
                      <a:pt x="262984" y="5087938"/>
                    </a:lnTo>
                    <a:cubicBezTo>
                      <a:pt x="216812" y="5116036"/>
                      <a:pt x="158825" y="5116036"/>
                      <a:pt x="112653" y="5087938"/>
                    </a:cubicBezTo>
                    <a:lnTo>
                      <a:pt x="75165" y="5065124"/>
                    </a:lnTo>
                    <a:cubicBezTo>
                      <a:pt x="28489" y="5036718"/>
                      <a:pt x="0" y="4986031"/>
                      <a:pt x="0" y="4931391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375637" cy="5067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1861088" y="69138"/>
              <a:ext cx="8509551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Khả năng tích hợp.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60050" y="67738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37222" y="6238334"/>
            <a:ext cx="10456168" cy="687394"/>
            <a:chOff x="0" y="0"/>
            <a:chExt cx="13941557" cy="916525"/>
          </a:xfrm>
        </p:grpSpPr>
        <p:grpSp>
          <p:nvGrpSpPr>
            <p:cNvPr name="Group 54" id="54"/>
            <p:cNvGrpSpPr/>
            <p:nvPr/>
          </p:nvGrpSpPr>
          <p:grpSpPr>
            <a:xfrm rot="-5400000">
              <a:off x="101602" y="-101602"/>
              <a:ext cx="916525" cy="1119730"/>
              <a:chOff x="0" y="0"/>
              <a:chExt cx="375637" cy="45892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375637" cy="434251"/>
              </a:xfrm>
              <a:custGeom>
                <a:avLst/>
                <a:gdLst/>
                <a:ahLst/>
                <a:cxnLst/>
                <a:rect r="r" b="b" t="t" l="l"/>
                <a:pathLst>
                  <a:path h="434251" w="375637">
                    <a:moveTo>
                      <a:pt x="375637" y="87990"/>
                    </a:moveTo>
                    <a:lnTo>
                      <a:pt x="375637" y="256630"/>
                    </a:lnTo>
                    <a:cubicBezTo>
                      <a:pt x="375637" y="311271"/>
                      <a:pt x="347148" y="361958"/>
                      <a:pt x="300472" y="390363"/>
                    </a:cubicBezTo>
                    <a:lnTo>
                      <a:pt x="262984" y="413177"/>
                    </a:lnTo>
                    <a:cubicBezTo>
                      <a:pt x="216812" y="441276"/>
                      <a:pt x="158825" y="441276"/>
                      <a:pt x="112653" y="413177"/>
                    </a:cubicBezTo>
                    <a:lnTo>
                      <a:pt x="75165" y="390363"/>
                    </a:lnTo>
                    <a:cubicBezTo>
                      <a:pt x="28489" y="361958"/>
                      <a:pt x="0" y="311271"/>
                      <a:pt x="0" y="256630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375637" cy="392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63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-5400000">
              <a:off x="1207196" y="397707"/>
              <a:ext cx="121112" cy="121112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5400000">
              <a:off x="7220403" y="-5804629"/>
              <a:ext cx="916525" cy="12525783"/>
              <a:chOff x="0" y="0"/>
              <a:chExt cx="375637" cy="513368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375637" cy="5109012"/>
              </a:xfrm>
              <a:custGeom>
                <a:avLst/>
                <a:gdLst/>
                <a:ahLst/>
                <a:cxnLst/>
                <a:rect r="r" b="b" t="t" l="l"/>
                <a:pathLst>
                  <a:path h="5109012" w="375637">
                    <a:moveTo>
                      <a:pt x="375637" y="87990"/>
                    </a:moveTo>
                    <a:lnTo>
                      <a:pt x="375637" y="4931391"/>
                    </a:lnTo>
                    <a:cubicBezTo>
                      <a:pt x="375637" y="4986031"/>
                      <a:pt x="347148" y="5036718"/>
                      <a:pt x="300472" y="5065124"/>
                    </a:cubicBezTo>
                    <a:lnTo>
                      <a:pt x="262984" y="5087938"/>
                    </a:lnTo>
                    <a:cubicBezTo>
                      <a:pt x="216812" y="5116036"/>
                      <a:pt x="158825" y="5116036"/>
                      <a:pt x="112653" y="5087938"/>
                    </a:cubicBezTo>
                    <a:lnTo>
                      <a:pt x="75165" y="5065124"/>
                    </a:lnTo>
                    <a:cubicBezTo>
                      <a:pt x="28489" y="5036718"/>
                      <a:pt x="0" y="4986031"/>
                      <a:pt x="0" y="4931391"/>
                    </a:cubicBezTo>
                    <a:lnTo>
                      <a:pt x="0" y="87990"/>
                    </a:lnTo>
                    <a:cubicBezTo>
                      <a:pt x="0" y="39394"/>
                      <a:pt x="39394" y="0"/>
                      <a:pt x="87990" y="0"/>
                    </a:cubicBezTo>
                    <a:lnTo>
                      <a:pt x="287647" y="0"/>
                    </a:lnTo>
                    <a:cubicBezTo>
                      <a:pt x="336243" y="0"/>
                      <a:pt x="375637" y="39394"/>
                      <a:pt x="375637" y="87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08FBE"/>
                </a:soli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47625"/>
                <a:ext cx="375637" cy="5067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6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1861088" y="69138"/>
              <a:ext cx="8509551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Demo giao diện.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260050" y="67738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45286" y="2669223"/>
            <a:ext cx="8797429" cy="4948554"/>
          </a:xfrm>
          <a:custGeom>
            <a:avLst/>
            <a:gdLst/>
            <a:ahLst/>
            <a:cxnLst/>
            <a:rect r="r" b="b" t="t" l="l"/>
            <a:pathLst>
              <a:path h="4948554" w="8797429">
                <a:moveTo>
                  <a:pt x="0" y="0"/>
                </a:moveTo>
                <a:lnTo>
                  <a:pt x="8797428" y="0"/>
                </a:lnTo>
                <a:lnTo>
                  <a:pt x="8797428" y="4948554"/>
                </a:lnTo>
                <a:lnTo>
                  <a:pt x="0" y="494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8598" y="2100088"/>
            <a:ext cx="7016680" cy="457200"/>
            <a:chOff x="0" y="0"/>
            <a:chExt cx="9355573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46022" y="-85725"/>
              <a:ext cx="8509551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Giới thiệu bài toán &amp; Mục tiêu.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68630" y="2809024"/>
            <a:ext cx="10350739" cy="6210443"/>
          </a:xfrm>
          <a:custGeom>
            <a:avLst/>
            <a:gdLst/>
            <a:ahLst/>
            <a:cxnLst/>
            <a:rect r="r" b="b" t="t" l="l"/>
            <a:pathLst>
              <a:path h="6210443" w="10350739">
                <a:moveTo>
                  <a:pt x="0" y="0"/>
                </a:moveTo>
                <a:lnTo>
                  <a:pt x="10350740" y="0"/>
                </a:lnTo>
                <a:lnTo>
                  <a:pt x="10350740" y="6210443"/>
                </a:lnTo>
                <a:lnTo>
                  <a:pt x="0" y="6210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8598" y="2100088"/>
            <a:ext cx="7016680" cy="457200"/>
            <a:chOff x="0" y="0"/>
            <a:chExt cx="9355573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46022" y="-85725"/>
              <a:ext cx="8509551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Giới thiệu bài toán &amp; Mục tiêu.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73910" y="4515823"/>
            <a:ext cx="3412438" cy="1255355"/>
          </a:xfrm>
          <a:custGeom>
            <a:avLst/>
            <a:gdLst/>
            <a:ahLst/>
            <a:cxnLst/>
            <a:rect r="r" b="b" t="t" l="l"/>
            <a:pathLst>
              <a:path h="1255355" w="3412438">
                <a:moveTo>
                  <a:pt x="0" y="0"/>
                </a:moveTo>
                <a:lnTo>
                  <a:pt x="3412437" y="0"/>
                </a:lnTo>
                <a:lnTo>
                  <a:pt x="3412437" y="1255354"/>
                </a:lnTo>
                <a:lnTo>
                  <a:pt x="0" y="1255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375" t="-265740" r="-123939" b="-7357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41053" y="4515823"/>
            <a:ext cx="3481833" cy="1255355"/>
          </a:xfrm>
          <a:custGeom>
            <a:avLst/>
            <a:gdLst/>
            <a:ahLst/>
            <a:cxnLst/>
            <a:rect r="r" b="b" t="t" l="l"/>
            <a:pathLst>
              <a:path h="1255355" w="3481833">
                <a:moveTo>
                  <a:pt x="0" y="0"/>
                </a:moveTo>
                <a:lnTo>
                  <a:pt x="3481832" y="0"/>
                </a:lnTo>
                <a:lnTo>
                  <a:pt x="3481832" y="1255354"/>
                </a:lnTo>
                <a:lnTo>
                  <a:pt x="0" y="12553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882" t="-119495" r="-19384" b="-17232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28598" y="2155141"/>
            <a:ext cx="8322228" cy="457200"/>
            <a:chOff x="0" y="0"/>
            <a:chExt cx="11096304" cy="6096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Công nghệ sử dụng &amp; Nguyên lý hoạt động.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92508" y="3031441"/>
            <a:ext cx="8322228" cy="457200"/>
            <a:chOff x="0" y="0"/>
            <a:chExt cx="11096304" cy="60960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Frontend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48968" y="4650906"/>
            <a:ext cx="2391527" cy="985188"/>
          </a:xfrm>
          <a:custGeom>
            <a:avLst/>
            <a:gdLst/>
            <a:ahLst/>
            <a:cxnLst/>
            <a:rect r="r" b="b" t="t" l="l"/>
            <a:pathLst>
              <a:path h="985188" w="2391527">
                <a:moveTo>
                  <a:pt x="0" y="0"/>
                </a:moveTo>
                <a:lnTo>
                  <a:pt x="2391526" y="0"/>
                </a:lnTo>
                <a:lnTo>
                  <a:pt x="2391526" y="985188"/>
                </a:lnTo>
                <a:lnTo>
                  <a:pt x="0" y="985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654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39032" y="4073187"/>
            <a:ext cx="3209935" cy="2140625"/>
          </a:xfrm>
          <a:custGeom>
            <a:avLst/>
            <a:gdLst/>
            <a:ahLst/>
            <a:cxnLst/>
            <a:rect r="r" b="b" t="t" l="l"/>
            <a:pathLst>
              <a:path h="2140625" w="3209935">
                <a:moveTo>
                  <a:pt x="0" y="0"/>
                </a:moveTo>
                <a:lnTo>
                  <a:pt x="3209936" y="0"/>
                </a:lnTo>
                <a:lnTo>
                  <a:pt x="3209936" y="2140626"/>
                </a:lnTo>
                <a:lnTo>
                  <a:pt x="0" y="2140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52471" y="4341632"/>
            <a:ext cx="1491729" cy="1603736"/>
          </a:xfrm>
          <a:custGeom>
            <a:avLst/>
            <a:gdLst/>
            <a:ahLst/>
            <a:cxnLst/>
            <a:rect r="r" b="b" t="t" l="l"/>
            <a:pathLst>
              <a:path h="1603736" w="1491729">
                <a:moveTo>
                  <a:pt x="0" y="0"/>
                </a:moveTo>
                <a:lnTo>
                  <a:pt x="1491729" y="0"/>
                </a:lnTo>
                <a:lnTo>
                  <a:pt x="1491729" y="1603736"/>
                </a:lnTo>
                <a:lnTo>
                  <a:pt x="0" y="1603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28598" y="2155141"/>
            <a:ext cx="8322228" cy="457200"/>
            <a:chOff x="0" y="0"/>
            <a:chExt cx="11096304" cy="609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Công nghệ sử dụng &amp; Nguyên lý hoạt động.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37222" y="2971916"/>
            <a:ext cx="8322228" cy="457200"/>
            <a:chOff x="0" y="0"/>
            <a:chExt cx="11096304" cy="609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Backend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93612" y="3860281"/>
            <a:ext cx="2232199" cy="2232199"/>
          </a:xfrm>
          <a:custGeom>
            <a:avLst/>
            <a:gdLst/>
            <a:ahLst/>
            <a:cxnLst/>
            <a:rect r="r" b="b" t="t" l="l"/>
            <a:pathLst>
              <a:path h="2232199" w="2232199">
                <a:moveTo>
                  <a:pt x="0" y="0"/>
                </a:moveTo>
                <a:lnTo>
                  <a:pt x="2232198" y="0"/>
                </a:lnTo>
                <a:lnTo>
                  <a:pt x="2232198" y="2232199"/>
                </a:lnTo>
                <a:lnTo>
                  <a:pt x="0" y="223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8598" y="2155141"/>
            <a:ext cx="8322228" cy="457200"/>
            <a:chOff x="0" y="0"/>
            <a:chExt cx="11096304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Công nghệ sử dụng &amp; Nguyên lý hoạt động.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37222" y="2971916"/>
            <a:ext cx="8322228" cy="457200"/>
            <a:chOff x="0" y="0"/>
            <a:chExt cx="11096304" cy="609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Thư viện hỗ trợ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437149" y="4770524"/>
            <a:ext cx="2661186" cy="1168688"/>
          </a:xfrm>
          <a:custGeom>
            <a:avLst/>
            <a:gdLst/>
            <a:ahLst/>
            <a:cxnLst/>
            <a:rect r="r" b="b" t="t" l="l"/>
            <a:pathLst>
              <a:path h="1168688" w="2661186">
                <a:moveTo>
                  <a:pt x="0" y="0"/>
                </a:moveTo>
                <a:lnTo>
                  <a:pt x="2661187" y="0"/>
                </a:lnTo>
                <a:lnTo>
                  <a:pt x="2661187" y="1168688"/>
                </a:lnTo>
                <a:lnTo>
                  <a:pt x="0" y="1168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81" t="-71201" r="-5146" b="-7820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21335" y="3694357"/>
            <a:ext cx="2118027" cy="2244855"/>
          </a:xfrm>
          <a:custGeom>
            <a:avLst/>
            <a:gdLst/>
            <a:ahLst/>
            <a:cxnLst/>
            <a:rect r="r" b="b" t="t" l="l"/>
            <a:pathLst>
              <a:path h="2244855" w="2118027">
                <a:moveTo>
                  <a:pt x="0" y="0"/>
                </a:moveTo>
                <a:lnTo>
                  <a:pt x="2118027" y="0"/>
                </a:lnTo>
                <a:lnTo>
                  <a:pt x="2118027" y="2244855"/>
                </a:lnTo>
                <a:lnTo>
                  <a:pt x="0" y="22448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1053" t="-16981" r="-1096" b="-15995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718780" y="6301162"/>
            <a:ext cx="1888863" cy="457200"/>
            <a:chOff x="0" y="0"/>
            <a:chExt cx="2518484" cy="6096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85725"/>
              <a:ext cx="297554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97554" y="-85725"/>
              <a:ext cx="2220930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OCR Ảnh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287492" y="6215437"/>
            <a:ext cx="338571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Tạo, đọc, trích xuất dữ liệu ra Excel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16855" y="6215437"/>
            <a:ext cx="338571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Trích xuất text từ PDF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53478" y="512641"/>
            <a:ext cx="5964895" cy="9005254"/>
          </a:xfrm>
          <a:custGeom>
            <a:avLst/>
            <a:gdLst/>
            <a:ahLst/>
            <a:cxnLst/>
            <a:rect r="r" b="b" t="t" l="l"/>
            <a:pathLst>
              <a:path h="9005254" w="5964895">
                <a:moveTo>
                  <a:pt x="0" y="0"/>
                </a:moveTo>
                <a:lnTo>
                  <a:pt x="5964895" y="0"/>
                </a:lnTo>
                <a:lnTo>
                  <a:pt x="5964895" y="9005254"/>
                </a:lnTo>
                <a:lnTo>
                  <a:pt x="0" y="9005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8598" y="2155141"/>
            <a:ext cx="8322228" cy="457200"/>
            <a:chOff x="0" y="0"/>
            <a:chExt cx="11096304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Công nghệ sử dụng &amp; Nguyên lý hoạt động.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50826" y="375569"/>
            <a:ext cx="7093616" cy="9535863"/>
          </a:xfrm>
          <a:custGeom>
            <a:avLst/>
            <a:gdLst/>
            <a:ahLst/>
            <a:cxnLst/>
            <a:rect r="r" b="b" t="t" l="l"/>
            <a:pathLst>
              <a:path h="9535863" w="7093616">
                <a:moveTo>
                  <a:pt x="0" y="0"/>
                </a:moveTo>
                <a:lnTo>
                  <a:pt x="7093617" y="0"/>
                </a:lnTo>
                <a:lnTo>
                  <a:pt x="7093617" y="9535862"/>
                </a:lnTo>
                <a:lnTo>
                  <a:pt x="0" y="9535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8598" y="2155141"/>
            <a:ext cx="8322228" cy="457200"/>
            <a:chOff x="0" y="0"/>
            <a:chExt cx="11096304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Công nghệ sử dụng &amp; Nguyên lý hoạt động.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155141"/>
            <a:ext cx="8322228" cy="457200"/>
            <a:chOff x="0" y="0"/>
            <a:chExt cx="11096304" cy="6096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Cấu trúc chương trình &amp; Module chính.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37222" y="2594997"/>
            <a:ext cx="12555652" cy="666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AI_CHATBOT/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├── AI_Chatbot.slnx                # File Solution quản lý dự án trong Visual Studio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├── models.json                    # File cấu hình/danh sách các AI Model đề xuất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└── AI_Chatbot/                    # Thư mục mã nguồn chính (Project C#)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Program.cs                 # Điểm khởi chạy chương trình (Main entry point)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│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🖥️ [GIAO DIỆN - UI LAYER]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Form1.cs                   # Màn hình Chatbot chính (Xử lý sự kiện UI, Stream Chat, File đính kèm)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Form1.Designer.cs          # Mã dựng giao diện WinForms (Auto-generated)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Form1.resx                 # Tài nguyên hình ảnh, icon của Form1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FormApiKeyDialog.cs        # Hộp thoại nhập &amp; lưu cấu hình API Key (Google Gemini)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└── FormDownloadModelDialog.cs # Hộp thoại quản lý &amp; tải các Model Local Ollama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│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⚙️ [DỊCH VỤ &amp; MODEL - SERVICE LAYER]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GeminiService.cs           # Tích hợp Google Gemini Cloud AI API (Vision AI, Stream text)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OllamaService.cs           # Tích hợp Ollama Local AI REST API (Chạy offline tại localhost:11434)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DocumentReaderService.cs   # Dịch vụ đọc &amp; trích xuất văn bản từ nhiều định dạng file (Docx, PDF, CSV, JSON...)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└── OcrService.cs              # Dịch vụ nhận diện ký tự quang học offline (Tesseract OCR)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│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🛠️ [CẤU HÌNH &amp; TÀI NGUYÊN - CONFIGS &amp; RESOURCES]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App.config                 # File cấu hình ứng dụng WinForms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secrets.config.example     # File mẫu cấu hình chứa API Key (được đổi tên thành secrets.config)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├── packages.config            # Quản lý danh sách thư viện NuGet (GunaUI2, EPPlus, PdfPig, Tesseract...)</a:t>
            </a:r>
          </a:p>
          <a:p>
            <a:pPr algn="l">
              <a:lnSpc>
                <a:spcPts val="2194"/>
              </a:lnSpc>
              <a:spcBef>
                <a:spcPct val="0"/>
              </a:spcBef>
            </a:pPr>
            <a:r>
              <a:rPr lang="en-US" b="true" sz="15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└── Properties/                # Thông tin phiên bản &amp; tài nguyên nội bộ dự án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35352" y="3806208"/>
            <a:ext cx="12089557" cy="6217805"/>
          </a:xfrm>
          <a:custGeom>
            <a:avLst/>
            <a:gdLst/>
            <a:ahLst/>
            <a:cxnLst/>
            <a:rect r="r" b="b" t="t" l="l"/>
            <a:pathLst>
              <a:path h="6217805" w="12089557">
                <a:moveTo>
                  <a:pt x="0" y="0"/>
                </a:moveTo>
                <a:lnTo>
                  <a:pt x="12089557" y="0"/>
                </a:lnTo>
                <a:lnTo>
                  <a:pt x="12089557" y="6217805"/>
                </a:lnTo>
                <a:lnTo>
                  <a:pt x="0" y="6217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8598" y="2155141"/>
            <a:ext cx="8322228" cy="457200"/>
            <a:chOff x="0" y="0"/>
            <a:chExt cx="11096304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Cấu trúc chương trình &amp; Module chính.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97314" y="2680731"/>
            <a:ext cx="16165634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Chương trình hoạt động theo cơ chế Hybrid AI, cho phép linh hoạt chuyển đổi giữa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Cloud AI (Gemini) và Local AI (Ollama):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88365" y="2849910"/>
            <a:ext cx="3721955" cy="6472371"/>
          </a:xfrm>
          <a:custGeom>
            <a:avLst/>
            <a:gdLst/>
            <a:ahLst/>
            <a:cxnLst/>
            <a:rect r="r" b="b" t="t" l="l"/>
            <a:pathLst>
              <a:path h="6472371" w="3721955">
                <a:moveTo>
                  <a:pt x="0" y="0"/>
                </a:moveTo>
                <a:lnTo>
                  <a:pt x="3721956" y="0"/>
                </a:lnTo>
                <a:lnTo>
                  <a:pt x="3721956" y="6472371"/>
                </a:lnTo>
                <a:lnTo>
                  <a:pt x="0" y="64723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8598" y="2155141"/>
            <a:ext cx="8322228" cy="457200"/>
            <a:chOff x="0" y="0"/>
            <a:chExt cx="11096304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Cấu trúc chương trình &amp; Module chính.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020205" y="4401047"/>
            <a:ext cx="11564161" cy="238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  * `OllamaService.cs`: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kết nối, tự động fetch model, gửi request tới Local LLM.</a:t>
            </a:r>
          </a:p>
          <a:p>
            <a:pPr algn="l">
              <a:lnSpc>
                <a:spcPts val="4872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  * `GeminiService.cs`: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Xử lý giao tiếp với API của Google.</a:t>
            </a:r>
          </a:p>
          <a:p>
            <a:pPr algn="l">
              <a:lnSpc>
                <a:spcPts val="4872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  * `OcrService.cs`: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Gọi Tesseract nhận dạng chữ từ ảnh.</a:t>
            </a:r>
          </a:p>
          <a:p>
            <a:pPr algn="l">
              <a:lnSpc>
                <a:spcPts val="4872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  * `DocumentReaderService.cs`: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Trích xuất text từ các file văn phòng.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0182" y="2719635"/>
            <a:ext cx="12287637" cy="6538665"/>
          </a:xfrm>
          <a:custGeom>
            <a:avLst/>
            <a:gdLst/>
            <a:ahLst/>
            <a:cxnLst/>
            <a:rect r="r" b="b" t="t" l="l"/>
            <a:pathLst>
              <a:path h="6538665" w="12287637">
                <a:moveTo>
                  <a:pt x="0" y="0"/>
                </a:moveTo>
                <a:lnTo>
                  <a:pt x="12287636" y="0"/>
                </a:lnTo>
                <a:lnTo>
                  <a:pt x="12287636" y="6538665"/>
                </a:lnTo>
                <a:lnTo>
                  <a:pt x="0" y="6538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8598" y="2155141"/>
            <a:ext cx="8322228" cy="457200"/>
            <a:chOff x="0" y="0"/>
            <a:chExt cx="11096304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Khả năng tích hợp.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48450" y="2917236"/>
            <a:ext cx="10991099" cy="6214231"/>
          </a:xfrm>
          <a:custGeom>
            <a:avLst/>
            <a:gdLst/>
            <a:ahLst/>
            <a:cxnLst/>
            <a:rect r="r" b="b" t="t" l="l"/>
            <a:pathLst>
              <a:path h="6214231" w="10991099">
                <a:moveTo>
                  <a:pt x="0" y="0"/>
                </a:moveTo>
                <a:lnTo>
                  <a:pt x="10991100" y="0"/>
                </a:lnTo>
                <a:lnTo>
                  <a:pt x="10991100" y="6214232"/>
                </a:lnTo>
                <a:lnTo>
                  <a:pt x="0" y="6214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8598" y="2155141"/>
            <a:ext cx="8322228" cy="457200"/>
            <a:chOff x="0" y="0"/>
            <a:chExt cx="11096304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4602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DB29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46022" y="-85725"/>
              <a:ext cx="1025028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Demo giao diện.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831" y="815064"/>
            <a:ext cx="919534" cy="919534"/>
          </a:xfrm>
          <a:custGeom>
            <a:avLst/>
            <a:gdLst/>
            <a:ahLst/>
            <a:cxnLst/>
            <a:rect r="r" b="b" t="t" l="l"/>
            <a:pathLst>
              <a:path h="919534" w="919534">
                <a:moveTo>
                  <a:pt x="0" y="0"/>
                </a:moveTo>
                <a:lnTo>
                  <a:pt x="919534" y="0"/>
                </a:lnTo>
                <a:lnTo>
                  <a:pt x="919534" y="919534"/>
                </a:lnTo>
                <a:lnTo>
                  <a:pt x="0" y="91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37222" y="738864"/>
            <a:ext cx="5451980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127E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ĐỒNG THÁP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DONG THAP UNIVERSITY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78427" y="4394146"/>
            <a:ext cx="9187607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CẢM ƠN CÔ VÀ CÁC BẠN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DB29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ĐÃ LẮNG NGHE BÀI THUYẾT TRÌNH!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DAHQGCa1CDg</dc:identifier>
  <dcterms:modified xsi:type="dcterms:W3CDTF">2011-08-01T06:04:30Z</dcterms:modified>
  <cp:revision>1</cp:revision>
  <dc:title>BÁO CÁO LẬP TRÌNH .NET (C#) ĐỀ TÀI Đồng Tháp, ngày 23 tháng 7 năm 2026</dc:title>
</cp:coreProperties>
</file>